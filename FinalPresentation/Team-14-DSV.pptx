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Nunito" pitchFamily="2" charset="0"/>
      <p:regular r:id="rId22"/>
    </p:embeddedFont>
    <p:embeddedFont>
      <p:font typeface="Poppins" panose="00000500000000000000" pitchFamily="2" charset="0"/>
      <p:regular r:id="rId23"/>
    </p:embeddedFont>
    <p:embeddedFont>
      <p:font typeface="Poppins Bold Italics" panose="020B0604020202020204" charset="0"/>
      <p:regular r:id="rId24"/>
    </p:embeddedFont>
    <p:embeddedFont>
      <p:font typeface="Times New Roman Bold" panose="02020803070505020304" pitchFamily="18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866" y="791185"/>
            <a:ext cx="2488940" cy="2529535"/>
            <a:chOff x="0" y="0"/>
            <a:chExt cx="3318586" cy="33727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8637" cy="3372739"/>
            </a:xfrm>
            <a:custGeom>
              <a:avLst/>
              <a:gdLst/>
              <a:ahLst/>
              <a:cxnLst/>
              <a:rect l="l" t="t" r="r" b="b"/>
              <a:pathLst>
                <a:path w="3318637" h="3372739">
                  <a:moveTo>
                    <a:pt x="0" y="0"/>
                  </a:moveTo>
                  <a:lnTo>
                    <a:pt x="3318637" y="0"/>
                  </a:lnTo>
                  <a:lnTo>
                    <a:pt x="3318637" y="3372739"/>
                  </a:lnTo>
                  <a:lnTo>
                    <a:pt x="0" y="337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890" r="-1388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147883" y="1028700"/>
            <a:ext cx="4049897" cy="1883197"/>
            <a:chOff x="0" y="0"/>
            <a:chExt cx="5399862" cy="25109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99913" cy="2510917"/>
            </a:xfrm>
            <a:custGeom>
              <a:avLst/>
              <a:gdLst/>
              <a:ahLst/>
              <a:cxnLst/>
              <a:rect l="l" t="t" r="r" b="b"/>
              <a:pathLst>
                <a:path w="5399913" h="2510917">
                  <a:moveTo>
                    <a:pt x="0" y="0"/>
                  </a:moveTo>
                  <a:lnTo>
                    <a:pt x="5399913" y="0"/>
                  </a:lnTo>
                  <a:lnTo>
                    <a:pt x="5399913" y="2510917"/>
                  </a:lnTo>
                  <a:lnTo>
                    <a:pt x="0" y="2510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" b="-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2967218" y="823236"/>
            <a:ext cx="11180664" cy="263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6"/>
              </a:lnSpc>
            </a:pPr>
            <a:r>
              <a:rPr lang="en-US" sz="4997" b="1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Artificial Intelligence and Data Science</a:t>
            </a:r>
          </a:p>
          <a:p>
            <a:pPr algn="ctr">
              <a:lnSpc>
                <a:spcPts val="6436"/>
              </a:lnSpc>
            </a:pPr>
            <a:r>
              <a:rPr lang="en-US" sz="4597" b="1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Science and Visualization</a:t>
            </a:r>
          </a:p>
          <a:p>
            <a:pPr algn="ctr">
              <a:lnSpc>
                <a:spcPts val="6436"/>
              </a:lnSpc>
            </a:pPr>
            <a:r>
              <a:rPr lang="en-US" sz="4597" b="1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24ADI204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00142" y="4134221"/>
            <a:ext cx="10410901" cy="1357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5"/>
              </a:lnSpc>
            </a:pPr>
            <a:r>
              <a:rPr lang="en-US" sz="3561" b="1" i="1" dirty="0">
                <a:solidFill>
                  <a:srgbClr val="17375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DATA-VIZ HACK-A-BIT (2025-2026) </a:t>
            </a:r>
          </a:p>
          <a:p>
            <a:pPr algn="ctr">
              <a:lnSpc>
                <a:spcPts val="4985"/>
              </a:lnSpc>
            </a:pPr>
            <a:endParaRPr lang="en-US" sz="3561" b="1" i="1" dirty="0">
              <a:solidFill>
                <a:srgbClr val="17375E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736432" y="5659888"/>
            <a:ext cx="3642236" cy="72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sz="3619">
                <a:solidFill>
                  <a:srgbClr val="17375E"/>
                </a:solidFill>
                <a:latin typeface="Poppins"/>
                <a:ea typeface="Poppins"/>
                <a:cs typeface="Poppins"/>
                <a:sym typeface="Poppins"/>
              </a:rPr>
              <a:t>Team Number: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9600" y="6553429"/>
            <a:ext cx="11034636" cy="274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3908">
                <a:solidFill>
                  <a:srgbClr val="17375E"/>
                </a:solidFill>
                <a:latin typeface="Poppins"/>
                <a:ea typeface="Poppins"/>
                <a:cs typeface="Poppins"/>
                <a:sym typeface="Poppins"/>
              </a:rPr>
              <a:t> 1. Gokulnaath M (24BAD026)</a:t>
            </a:r>
          </a:p>
          <a:p>
            <a:pPr algn="l">
              <a:lnSpc>
                <a:spcPts val="5467"/>
              </a:lnSpc>
            </a:pPr>
            <a:r>
              <a:rPr lang="en-US" sz="3908">
                <a:solidFill>
                  <a:srgbClr val="17375E"/>
                </a:solidFill>
                <a:latin typeface="Poppins"/>
                <a:ea typeface="Poppins"/>
                <a:cs typeface="Poppins"/>
                <a:sym typeface="Poppins"/>
              </a:rPr>
              <a:t> 2. Jayaraksha Reguraj (24BAD044)</a:t>
            </a:r>
          </a:p>
          <a:p>
            <a:pPr algn="l">
              <a:lnSpc>
                <a:spcPts val="5467"/>
              </a:lnSpc>
            </a:pPr>
            <a:r>
              <a:rPr lang="en-US" sz="3908">
                <a:solidFill>
                  <a:srgbClr val="17375E"/>
                </a:solidFill>
                <a:latin typeface="Poppins"/>
                <a:ea typeface="Poppins"/>
                <a:cs typeface="Poppins"/>
                <a:sym typeface="Poppins"/>
              </a:rPr>
              <a:t>3. Kamalesh N (24BAD054) </a:t>
            </a:r>
          </a:p>
          <a:p>
            <a:pPr algn="l">
              <a:lnSpc>
                <a:spcPts val="5471"/>
              </a:lnSpc>
            </a:pPr>
            <a:r>
              <a:rPr lang="en-US" sz="3908">
                <a:solidFill>
                  <a:srgbClr val="17375E"/>
                </a:solidFill>
                <a:latin typeface="Poppins"/>
                <a:ea typeface="Poppins"/>
                <a:cs typeface="Poppins"/>
                <a:sym typeface="Poppins"/>
              </a:rPr>
              <a:t>4. Nishanth P (24BAD405)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0419" y="1226068"/>
            <a:ext cx="10422465" cy="116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50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Walkthrough</a:t>
            </a:r>
          </a:p>
        </p:txBody>
      </p:sp>
      <p:sp>
        <p:nvSpPr>
          <p:cNvPr id="3" name="Freeform 3"/>
          <p:cNvSpPr/>
          <p:nvPr/>
        </p:nvSpPr>
        <p:spPr>
          <a:xfrm>
            <a:off x="967168" y="2909516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880068" y="2859719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7488" y="4806944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5"/>
                </a:lnTo>
                <a:lnTo>
                  <a:pt x="0" y="1082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07853" y="3851986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7328" y="5743327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907853" y="4848539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7328" y="6739880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907853" y="5845083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7328" y="7736424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907853" y="6841627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5"/>
                </a:lnTo>
                <a:lnTo>
                  <a:pt x="0" y="1082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31783" y="3250454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01. Project Scope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44673" y="3200657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07. Data Cleaning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2102" y="5147882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03. Objectives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72457" y="4192924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08. Outlier Handling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1942" y="6084265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04. Project Workflow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72457" y="5189468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09. EDA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1942" y="7080818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05. Dataset Overview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72457" y="6186021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10. Correlation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1942" y="8077362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06. Target Variable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72457" y="7182564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11. Feature Engineering</a:t>
            </a:r>
          </a:p>
        </p:txBody>
      </p:sp>
      <p:sp>
        <p:nvSpPr>
          <p:cNvPr id="23" name="Freeform 23"/>
          <p:cNvSpPr/>
          <p:nvPr/>
        </p:nvSpPr>
        <p:spPr>
          <a:xfrm>
            <a:off x="6008113" y="7889186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700423" y="2852061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724483" y="3829736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724483" y="4826279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98953" y="3897773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6272717" y="8230124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12. PCA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65037" y="3192999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13.Key Insights /Results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89097" y="4170674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14.Dashboard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89097" y="5167217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15.Demo  Video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63567" y="4238711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02.Problem Statement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724483" y="5896956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989097" y="6237894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16.Future Enhancements</a:t>
            </a:r>
          </a:p>
        </p:txBody>
      </p:sp>
      <p:sp>
        <p:nvSpPr>
          <p:cNvPr id="35" name="Freeform 35"/>
          <p:cNvSpPr/>
          <p:nvPr/>
        </p:nvSpPr>
        <p:spPr>
          <a:xfrm>
            <a:off x="10724483" y="6893500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5"/>
                </a:lnTo>
                <a:lnTo>
                  <a:pt x="0" y="1082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0989097" y="7234438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17.Team Contribution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724483" y="7890043"/>
            <a:ext cx="4523594" cy="1082126"/>
          </a:xfrm>
          <a:custGeom>
            <a:avLst/>
            <a:gdLst/>
            <a:ahLst/>
            <a:cxnLst/>
            <a:rect l="l" t="t" r="r" b="b"/>
            <a:pathLst>
              <a:path w="4523594" h="1082126">
                <a:moveTo>
                  <a:pt x="0" y="0"/>
                </a:moveTo>
                <a:lnTo>
                  <a:pt x="4523594" y="0"/>
                </a:lnTo>
                <a:lnTo>
                  <a:pt x="4523594" y="1082126"/>
                </a:lnTo>
                <a:lnTo>
                  <a:pt x="0" y="1082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0989097" y="8230981"/>
            <a:ext cx="3994385" cy="53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18.Conclusion/Reference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40" name="Freeform 40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4658" y="423158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Scope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4143819"/>
            <a:ext cx="13755686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3"/>
              </a:lnSpc>
              <a:spcBef>
                <a:spcPct val="0"/>
              </a:spcBef>
            </a:pPr>
            <a:r>
              <a:rPr lang="en-US" sz="3499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Scope: Utilizing the Framingham Heart Study dataset to perform end-to-end data science—from cleaning and exploratory analysis to predictive modeling and interactive visualization.</a:t>
            </a:r>
          </a:p>
          <a:p>
            <a:pPr algn="ctr">
              <a:lnSpc>
                <a:spcPts val="3844"/>
              </a:lnSpc>
              <a:spcBef>
                <a:spcPct val="0"/>
              </a:spcBef>
            </a:pPr>
            <a:endParaRPr lang="en-US" sz="3499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ctr">
              <a:lnSpc>
                <a:spcPts val="4986"/>
              </a:lnSpc>
              <a:spcBef>
                <a:spcPct val="0"/>
              </a:spcBef>
            </a:pPr>
            <a:endParaRPr lang="en-US" sz="3499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4986"/>
              </a:lnSpc>
              <a:spcBef>
                <a:spcPct val="0"/>
              </a:spcBef>
            </a:pPr>
            <a:r>
              <a:rPr lang="en-US" sz="3499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Focus: Identifying high-risk patient profiles for 10-year Coronary Heart Disease (CHD) to support clinical decision-making.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761877-97E2-2B9F-9E9B-1BA16C336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235585" y="429635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3390584"/>
            <a:ext cx="13994063" cy="574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3"/>
              </a:lnSpc>
              <a:spcBef>
                <a:spcPct val="0"/>
              </a:spcBef>
            </a:pPr>
            <a:r>
              <a:rPr lang="en-US" sz="3499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The Challenge: Cardiovascular disease is often a "silent killer" with complex, compounding risk factors.</a:t>
            </a:r>
          </a:p>
          <a:p>
            <a:pPr algn="ctr">
              <a:lnSpc>
                <a:spcPts val="4986"/>
              </a:lnSpc>
              <a:spcBef>
                <a:spcPct val="0"/>
              </a:spcBef>
            </a:pPr>
            <a:endParaRPr lang="en-US" sz="3499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4983"/>
              </a:lnSpc>
              <a:spcBef>
                <a:spcPct val="0"/>
              </a:spcBef>
            </a:pPr>
            <a:r>
              <a:rPr lang="en-US" sz="3499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The Problem: Raw medical data is often noisy and unstructured, making it difficult for healthcare providers to pinpoint which patients require immediate preventative intervention.</a:t>
            </a:r>
          </a:p>
          <a:p>
            <a:pPr algn="ctr">
              <a:lnSpc>
                <a:spcPts val="4986"/>
              </a:lnSpc>
              <a:spcBef>
                <a:spcPct val="0"/>
              </a:spcBef>
            </a:pPr>
            <a:endParaRPr lang="en-US" sz="3499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4986"/>
              </a:lnSpc>
              <a:spcBef>
                <a:spcPct val="0"/>
              </a:spcBef>
            </a:pPr>
            <a:r>
              <a:rPr lang="en-US" sz="3499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Goal: Bridge the gap between raw clinical data and actionable risk stratification.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7383E1-5937-718C-7F32-531BB4EC1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35585" y="429635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699526" y="3316496"/>
            <a:ext cx="12558664" cy="437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3"/>
              </a:lnSpc>
              <a:spcBef>
                <a:spcPct val="0"/>
              </a:spcBef>
            </a:pPr>
            <a:r>
              <a:rPr lang="en-US" sz="3441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Predict 10-year CHD risk using longitudinal study data.</a:t>
            </a:r>
          </a:p>
          <a:p>
            <a:pPr algn="just">
              <a:lnSpc>
                <a:spcPts val="4903"/>
              </a:lnSpc>
              <a:spcBef>
                <a:spcPct val="0"/>
              </a:spcBef>
            </a:pPr>
            <a:r>
              <a:rPr lang="en-US" sz="3441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Identify top behavioral and clinical influencers (e.g., smoking, BP, age).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441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Stratify the patient population into priority segments for medical intervention.</a:t>
            </a:r>
          </a:p>
          <a:p>
            <a:pPr algn="just">
              <a:lnSpc>
                <a:spcPts val="4903"/>
              </a:lnSpc>
              <a:spcBef>
                <a:spcPct val="0"/>
              </a:spcBef>
            </a:pPr>
            <a:endParaRPr lang="en-US" sz="3441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4903"/>
              </a:lnSpc>
              <a:spcBef>
                <a:spcPct val="0"/>
              </a:spcBef>
            </a:pPr>
            <a:r>
              <a:rPr lang="en-US" sz="3441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Develop an interactive dashboard for real-time risk assessment.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925576-F23C-4BC8-1AF6-5E1A6CB9E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00511" y="429635"/>
            <a:ext cx="12934245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Workflow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61280" y="3453259"/>
            <a:ext cx="14226064" cy="5409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72"/>
              </a:lnSpc>
              <a:spcBef>
                <a:spcPct val="0"/>
              </a:spcBef>
            </a:pPr>
            <a:r>
              <a:rPr lang="en-US" sz="37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Data Acquisition: Framingham Heart Study Dataset (4,240 records).</a:t>
            </a:r>
          </a:p>
          <a:p>
            <a:pPr algn="just">
              <a:lnSpc>
                <a:spcPts val="5269"/>
              </a:lnSpc>
              <a:spcBef>
                <a:spcPct val="0"/>
              </a:spcBef>
            </a:pPr>
            <a:r>
              <a:rPr lang="en-US" sz="37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Preprocessing: Handling null values and outliers.</a:t>
            </a:r>
          </a:p>
          <a:p>
            <a:pPr algn="just">
              <a:lnSpc>
                <a:spcPts val="5272"/>
              </a:lnSpc>
              <a:spcBef>
                <a:spcPct val="0"/>
              </a:spcBef>
            </a:pPr>
            <a:endParaRPr lang="en-US" sz="37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5272"/>
              </a:lnSpc>
              <a:spcBef>
                <a:spcPct val="0"/>
              </a:spcBef>
            </a:pPr>
            <a:r>
              <a:rPr lang="en-US" sz="37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EDA: Univariate, Bivariate, and Multivariate analysis.</a:t>
            </a:r>
          </a:p>
          <a:p>
            <a:pPr algn="just">
              <a:lnSpc>
                <a:spcPts val="5269"/>
              </a:lnSpc>
              <a:spcBef>
                <a:spcPct val="0"/>
              </a:spcBef>
            </a:pPr>
            <a:r>
              <a:rPr lang="en-US" sz="37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Modeling: Population segmentation and Decision Tree logic.</a:t>
            </a:r>
          </a:p>
          <a:p>
            <a:pPr algn="just">
              <a:lnSpc>
                <a:spcPts val="5272"/>
              </a:lnSpc>
              <a:spcBef>
                <a:spcPct val="0"/>
              </a:spcBef>
            </a:pPr>
            <a:endParaRPr lang="en-US" sz="37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5272"/>
              </a:lnSpc>
              <a:spcBef>
                <a:spcPct val="0"/>
              </a:spcBef>
            </a:pPr>
            <a:r>
              <a:rPr lang="en-US" sz="37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Visualization: Power BI Dashboard development.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245DAF-3FD9-22D6-C6E3-D27A5A741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47168" y="493728"/>
            <a:ext cx="11499171" cy="195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Overview</a:t>
            </a:r>
          </a:p>
          <a:p>
            <a:pPr algn="ctr">
              <a:lnSpc>
                <a:spcPts val="7534"/>
              </a:lnSpc>
            </a:pPr>
            <a:endParaRPr lang="en-US" sz="6609" b="1">
              <a:solidFill>
                <a:srgbClr val="30387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7056103" y="-507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0532742" y="1824251"/>
            <a:ext cx="7767964" cy="3820656"/>
          </a:xfrm>
          <a:custGeom>
            <a:avLst/>
            <a:gdLst/>
            <a:ahLst/>
            <a:cxnLst/>
            <a:rect l="l" t="t" r="r" b="b"/>
            <a:pathLst>
              <a:path w="7767964" h="3820656">
                <a:moveTo>
                  <a:pt x="0" y="0"/>
                </a:moveTo>
                <a:lnTo>
                  <a:pt x="7767964" y="0"/>
                </a:lnTo>
                <a:lnTo>
                  <a:pt x="7767964" y="3820656"/>
                </a:lnTo>
                <a:lnTo>
                  <a:pt x="0" y="3820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545448" y="5644907"/>
            <a:ext cx="7755258" cy="3916240"/>
          </a:xfrm>
          <a:custGeom>
            <a:avLst/>
            <a:gdLst/>
            <a:ahLst/>
            <a:cxnLst/>
            <a:rect l="l" t="t" r="r" b="b"/>
            <a:pathLst>
              <a:path w="7755258" h="3916240">
                <a:moveTo>
                  <a:pt x="0" y="0"/>
                </a:moveTo>
                <a:lnTo>
                  <a:pt x="7755258" y="0"/>
                </a:lnTo>
                <a:lnTo>
                  <a:pt x="7755258" y="3916240"/>
                </a:lnTo>
                <a:lnTo>
                  <a:pt x="0" y="3916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0" y="3568263"/>
            <a:ext cx="10532742" cy="5860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12"/>
              </a:lnSpc>
              <a:spcBef>
                <a:spcPct val="0"/>
              </a:spcBef>
            </a:pPr>
            <a:r>
              <a:rPr lang="en-US" sz="3588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Source: Framingham Heart Study (Kaggle).</a:t>
            </a:r>
          </a:p>
          <a:p>
            <a:pPr algn="just">
              <a:lnSpc>
                <a:spcPts val="5109"/>
              </a:lnSpc>
              <a:spcBef>
                <a:spcPct val="0"/>
              </a:spcBef>
            </a:pPr>
            <a:r>
              <a:rPr lang="en-US" sz="3588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Size: 4,240 records | 16 features.</a:t>
            </a:r>
          </a:p>
          <a:p>
            <a:pPr algn="just">
              <a:lnSpc>
                <a:spcPts val="5112"/>
              </a:lnSpc>
              <a:spcBef>
                <a:spcPct val="0"/>
              </a:spcBef>
            </a:pPr>
            <a:endParaRPr lang="en-US" sz="3588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5109"/>
              </a:lnSpc>
              <a:spcBef>
                <a:spcPct val="0"/>
              </a:spcBef>
            </a:pPr>
            <a:r>
              <a:rPr lang="en-US" sz="3588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Domains: * Demographic: Age, Gender, Education.</a:t>
            </a:r>
          </a:p>
          <a:p>
            <a:pPr algn="just">
              <a:lnSpc>
                <a:spcPts val="5112"/>
              </a:lnSpc>
              <a:spcBef>
                <a:spcPct val="0"/>
              </a:spcBef>
            </a:pPr>
            <a:endParaRPr lang="en-US" sz="3588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5109"/>
              </a:lnSpc>
              <a:spcBef>
                <a:spcPct val="0"/>
              </a:spcBef>
            </a:pPr>
            <a:r>
              <a:rPr lang="en-US" sz="3588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Behavioral: Smoking status, Cigarettes per day.</a:t>
            </a:r>
          </a:p>
          <a:p>
            <a:pPr algn="just">
              <a:lnSpc>
                <a:spcPts val="5112"/>
              </a:lnSpc>
              <a:spcBef>
                <a:spcPct val="0"/>
              </a:spcBef>
            </a:pPr>
            <a:endParaRPr lang="en-US" sz="3588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5112"/>
              </a:lnSpc>
              <a:spcBef>
                <a:spcPct val="0"/>
              </a:spcBef>
            </a:pPr>
            <a:r>
              <a:rPr lang="en-US" sz="3588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Medical: Total Cholesterol, Systolic/Diastolic BP, BMI, Heart Rate, Glucose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3C512D-B211-743C-CDF5-C306FB7D2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3075" y="527266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Variable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789269" y="3227951"/>
            <a:ext cx="15275061" cy="479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63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Name: </a:t>
            </a:r>
            <a:r>
              <a:rPr lang="en-US" sz="4000" dirty="0" err="1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TenYearCHD</a:t>
            </a: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368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363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 A binary indicator (1 or 0) showing whether a patient developed Coronary Heart Disease within a 10-year period.</a:t>
            </a:r>
          </a:p>
          <a:p>
            <a:pPr algn="just">
              <a:lnSpc>
                <a:spcPts val="5368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368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Prevalence: 15% of the analyzed population (644 patients) were identified as High Risk.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F3CEF5-79D3-856D-013E-F31C31256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90793" y="527266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Cleaning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507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430550" y="3162300"/>
            <a:ext cx="163830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363"/>
              </a:lnSpc>
              <a:spcBef>
                <a:spcPct val="0"/>
              </a:spcBef>
            </a:pPr>
            <a:r>
              <a:rPr lang="en-US" sz="4709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Values: Significant nulls found in glucose, BMI, and </a:t>
            </a:r>
            <a:r>
              <a:rPr lang="en-US" sz="4709" dirty="0" err="1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totChol</a:t>
            </a:r>
            <a:r>
              <a:rPr lang="en-US" sz="4709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just">
              <a:lnSpc>
                <a:spcPts val="5368"/>
              </a:lnSpc>
              <a:spcBef>
                <a:spcPct val="0"/>
              </a:spcBef>
            </a:pPr>
            <a:endParaRPr lang="en-US" sz="4709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363"/>
              </a:lnSpc>
              <a:spcBef>
                <a:spcPct val="0"/>
              </a:spcBef>
            </a:pPr>
            <a:r>
              <a:rPr lang="en-US" sz="4709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Imputation: Categorical features handled via Mode; numerical features handled via Median for robustness against noise.</a:t>
            </a:r>
          </a:p>
          <a:p>
            <a:pPr algn="just">
              <a:lnSpc>
                <a:spcPts val="5368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368"/>
              </a:lnSpc>
              <a:spcBef>
                <a:spcPct val="0"/>
              </a:spcBef>
            </a:pPr>
            <a:r>
              <a:rPr lang="en-US" sz="4709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Process: Dropping duplicates and removing non-useful columns to streamline the model.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76A67-01B8-F744-E934-743EC647A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9533" y="527266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Outlier Handling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9380580" y="3543300"/>
            <a:ext cx="7906128" cy="4023383"/>
          </a:xfrm>
          <a:custGeom>
            <a:avLst/>
            <a:gdLst/>
            <a:ahLst/>
            <a:cxnLst/>
            <a:rect l="l" t="t" r="r" b="b"/>
            <a:pathLst>
              <a:path w="9393285" h="5682937">
                <a:moveTo>
                  <a:pt x="0" y="0"/>
                </a:moveTo>
                <a:lnTo>
                  <a:pt x="9393284" y="0"/>
                </a:lnTo>
                <a:lnTo>
                  <a:pt x="9393284" y="5682937"/>
                </a:lnTo>
                <a:lnTo>
                  <a:pt x="0" y="568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1612" y="3162300"/>
            <a:ext cx="8825810" cy="584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05"/>
              </a:lnSpc>
              <a:spcBef>
                <a:spcPct val="0"/>
              </a:spcBef>
            </a:pPr>
            <a:r>
              <a:rPr lang="en-US" sz="5009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Detection: Identified via Boxplots and Z-Scores for clinical metrics (BP, Cholesterol).</a:t>
            </a:r>
          </a:p>
          <a:p>
            <a:pPr algn="ctr">
              <a:lnSpc>
                <a:spcPts val="5710"/>
              </a:lnSpc>
              <a:spcBef>
                <a:spcPct val="0"/>
              </a:spcBef>
            </a:pPr>
            <a:endParaRPr lang="en-US" sz="5009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710"/>
              </a:lnSpc>
              <a:spcBef>
                <a:spcPct val="0"/>
              </a:spcBef>
            </a:pPr>
            <a:r>
              <a:rPr lang="en-US" sz="5009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Treatment: IQR Capping was applied to prevent extreme values from skewing the predictive logic while maintaining data integrity.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660026-C295-0298-62A5-362ADC871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7006" y="429635"/>
            <a:ext cx="15510024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Exploratory Data Analysis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343655" y="2603000"/>
            <a:ext cx="10857745" cy="6003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249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Univariate: Age, BMI, and Glucose exhibit right-skewed distributions.</a:t>
            </a:r>
          </a:p>
          <a:p>
            <a:pPr algn="just">
              <a:lnSpc>
                <a:spcPts val="5254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249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Bivariate: CHD patients show significantly higher median age and blood pressure compared to non-CHD patients.</a:t>
            </a:r>
          </a:p>
          <a:p>
            <a:pPr algn="just">
              <a:lnSpc>
                <a:spcPts val="5254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254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Finding: Smoking intensity (quantity) shows a stronger link to risk than just smoking status alone.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486619" y="3330443"/>
            <a:ext cx="6814020" cy="4548359"/>
          </a:xfrm>
          <a:custGeom>
            <a:avLst/>
            <a:gdLst/>
            <a:ahLst/>
            <a:cxnLst/>
            <a:rect l="l" t="t" r="r" b="b"/>
            <a:pathLst>
              <a:path w="6814020" h="4548359">
                <a:moveTo>
                  <a:pt x="0" y="0"/>
                </a:moveTo>
                <a:lnTo>
                  <a:pt x="6814020" y="0"/>
                </a:lnTo>
                <a:lnTo>
                  <a:pt x="6814020" y="4548358"/>
                </a:lnTo>
                <a:lnTo>
                  <a:pt x="0" y="4548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F4EDF7-895A-DE79-B2E2-35819AAD4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90793" y="423158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Correlation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28600" y="2171700"/>
            <a:ext cx="8915400" cy="6852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983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Links: Strong positive correlation between Systolic and Diastolic Blood Pressure.</a:t>
            </a:r>
          </a:p>
          <a:p>
            <a:pPr algn="just">
              <a:lnSpc>
                <a:spcPts val="5988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983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Metabolic Links: BMI and Glucose levels are positively correlated.</a:t>
            </a:r>
          </a:p>
          <a:p>
            <a:pPr algn="just">
              <a:lnSpc>
                <a:spcPts val="5988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988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Insights: High correlation between age and the onset of hypertension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54789" y="3542883"/>
            <a:ext cx="6801314" cy="4110471"/>
          </a:xfrm>
          <a:custGeom>
            <a:avLst/>
            <a:gdLst/>
            <a:ahLst/>
            <a:cxnLst/>
            <a:rect l="l" t="t" r="r" b="b"/>
            <a:pathLst>
              <a:path w="6801314" h="4110471">
                <a:moveTo>
                  <a:pt x="0" y="0"/>
                </a:moveTo>
                <a:lnTo>
                  <a:pt x="6801314" y="0"/>
                </a:lnTo>
                <a:lnTo>
                  <a:pt x="6801314" y="4110471"/>
                </a:lnTo>
                <a:lnTo>
                  <a:pt x="0" y="411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75" b="-12875"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ED0993-914A-F642-1A95-2675FA126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6939" y="527266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Engineering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3581241" y="1611948"/>
            <a:ext cx="7485703" cy="3490209"/>
          </a:xfrm>
          <a:custGeom>
            <a:avLst/>
            <a:gdLst/>
            <a:ahLst/>
            <a:cxnLst/>
            <a:rect l="l" t="t" r="r" b="b"/>
            <a:pathLst>
              <a:path w="7485703" h="3490209">
                <a:moveTo>
                  <a:pt x="0" y="0"/>
                </a:moveTo>
                <a:lnTo>
                  <a:pt x="7485703" y="0"/>
                </a:lnTo>
                <a:lnTo>
                  <a:pt x="7485703" y="3490209"/>
                </a:lnTo>
                <a:lnTo>
                  <a:pt x="0" y="3490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4268" y="5096012"/>
            <a:ext cx="10668000" cy="469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152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Risk Score: Transformed raw clinical features into a single Risk Score for dashboarding.</a:t>
            </a:r>
          </a:p>
          <a:p>
            <a:pPr algn="just">
              <a:lnSpc>
                <a:spcPts val="6157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6157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PCA: Applied Principal Component Analysis to visualize target distribution and manage multicollinearity among clinical features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B4B38F-F73B-D15E-E694-594D8B8FD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0943" y="527266"/>
            <a:ext cx="13191830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Dimensionality Reduction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7524812" y="1528896"/>
            <a:ext cx="10639186" cy="3737014"/>
          </a:xfrm>
          <a:custGeom>
            <a:avLst/>
            <a:gdLst/>
            <a:ahLst/>
            <a:cxnLst/>
            <a:rect l="l" t="t" r="r" b="b"/>
            <a:pathLst>
              <a:path w="10639186" h="3737014">
                <a:moveTo>
                  <a:pt x="0" y="0"/>
                </a:moveTo>
                <a:lnTo>
                  <a:pt x="10639186" y="0"/>
                </a:lnTo>
                <a:lnTo>
                  <a:pt x="10639186" y="3737015"/>
                </a:lnTo>
                <a:lnTo>
                  <a:pt x="0" y="3737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701615" y="5585692"/>
            <a:ext cx="4233211" cy="4409595"/>
          </a:xfrm>
          <a:custGeom>
            <a:avLst/>
            <a:gdLst/>
            <a:ahLst/>
            <a:cxnLst/>
            <a:rect l="l" t="t" r="r" b="b"/>
            <a:pathLst>
              <a:path w="4233211" h="4409595">
                <a:moveTo>
                  <a:pt x="0" y="0"/>
                </a:moveTo>
                <a:lnTo>
                  <a:pt x="4233211" y="0"/>
                </a:lnTo>
                <a:lnTo>
                  <a:pt x="4233211" y="4409594"/>
                </a:lnTo>
                <a:lnTo>
                  <a:pt x="0" y="4409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04800" y="4517652"/>
            <a:ext cx="11353800" cy="5685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596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Dimensionality Reduction (PCA)</a:t>
            </a:r>
          </a:p>
          <a:p>
            <a:pPr algn="just">
              <a:lnSpc>
                <a:spcPts val="5591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Technique: Principal Component Analysis.</a:t>
            </a:r>
          </a:p>
          <a:p>
            <a:pPr algn="just">
              <a:lnSpc>
                <a:spcPts val="5596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591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Solve multicollinearity by projecting features into a lower-dimensional space.</a:t>
            </a:r>
          </a:p>
          <a:p>
            <a:pPr algn="just">
              <a:lnSpc>
                <a:spcPts val="5596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596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Visualized target distribution clearly and enhanced the robustness of the risk metrics.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040C8E-CBB2-73A3-2DDD-CB2293651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0" y="-12697"/>
            <a:ext cx="16961925" cy="18795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9220" y="527266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Insights / Results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50647" y="2831189"/>
            <a:ext cx="11487367" cy="5124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35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Influencers: Stroke history (3.13x increase) and age (2.93x increase) are the top risk drivers.</a:t>
            </a:r>
          </a:p>
          <a:p>
            <a:pPr algn="just">
              <a:lnSpc>
                <a:spcPts val="5140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135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Segmentation: Segment 1 (31.9% risk) and Segment 2 (29.7% risk) are the priority intervention groups.</a:t>
            </a:r>
          </a:p>
          <a:p>
            <a:pPr algn="just">
              <a:lnSpc>
                <a:spcPts val="4570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140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Pathway: Age (60+) is the "primary entry gate" for risk, which compounds with hypertension and smoking.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604B4C-B37D-7F24-6D39-DBF81852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4658" y="423158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Visualization Dashboard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507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91881" y="1809098"/>
            <a:ext cx="5057826" cy="2901928"/>
          </a:xfrm>
          <a:custGeom>
            <a:avLst/>
            <a:gdLst/>
            <a:ahLst/>
            <a:cxnLst/>
            <a:rect l="l" t="t" r="r" b="b"/>
            <a:pathLst>
              <a:path w="5057826" h="2901928">
                <a:moveTo>
                  <a:pt x="0" y="0"/>
                </a:moveTo>
                <a:lnTo>
                  <a:pt x="5057826" y="0"/>
                </a:lnTo>
                <a:lnTo>
                  <a:pt x="5057826" y="2901928"/>
                </a:lnTo>
                <a:lnTo>
                  <a:pt x="0" y="2901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91881" y="4711026"/>
            <a:ext cx="5057826" cy="2927217"/>
          </a:xfrm>
          <a:custGeom>
            <a:avLst/>
            <a:gdLst/>
            <a:ahLst/>
            <a:cxnLst/>
            <a:rect l="l" t="t" r="r" b="b"/>
            <a:pathLst>
              <a:path w="5057826" h="2927217">
                <a:moveTo>
                  <a:pt x="0" y="0"/>
                </a:moveTo>
                <a:lnTo>
                  <a:pt x="5057826" y="0"/>
                </a:lnTo>
                <a:lnTo>
                  <a:pt x="5057826" y="2927217"/>
                </a:lnTo>
                <a:lnTo>
                  <a:pt x="0" y="2927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249707" y="1842637"/>
            <a:ext cx="4992564" cy="2901928"/>
          </a:xfrm>
          <a:custGeom>
            <a:avLst/>
            <a:gdLst/>
            <a:ahLst/>
            <a:cxnLst/>
            <a:rect l="l" t="t" r="r" b="b"/>
            <a:pathLst>
              <a:path w="4992564" h="2901928">
                <a:moveTo>
                  <a:pt x="0" y="0"/>
                </a:moveTo>
                <a:lnTo>
                  <a:pt x="4992564" y="0"/>
                </a:lnTo>
                <a:lnTo>
                  <a:pt x="4992564" y="2901928"/>
                </a:lnTo>
                <a:lnTo>
                  <a:pt x="0" y="2901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87251" y="7570597"/>
            <a:ext cx="5062456" cy="2923568"/>
          </a:xfrm>
          <a:custGeom>
            <a:avLst/>
            <a:gdLst/>
            <a:ahLst/>
            <a:cxnLst/>
            <a:rect l="l" t="t" r="r" b="b"/>
            <a:pathLst>
              <a:path w="5062456" h="2923568">
                <a:moveTo>
                  <a:pt x="0" y="0"/>
                </a:moveTo>
                <a:lnTo>
                  <a:pt x="5062456" y="0"/>
                </a:lnTo>
                <a:lnTo>
                  <a:pt x="5062456" y="2923569"/>
                </a:lnTo>
                <a:lnTo>
                  <a:pt x="0" y="29235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223688" y="7537413"/>
            <a:ext cx="4975537" cy="2860934"/>
          </a:xfrm>
          <a:custGeom>
            <a:avLst/>
            <a:gdLst/>
            <a:ahLst/>
            <a:cxnLst/>
            <a:rect l="l" t="t" r="r" b="b"/>
            <a:pathLst>
              <a:path w="4975537" h="2860934">
                <a:moveTo>
                  <a:pt x="0" y="0"/>
                </a:moveTo>
                <a:lnTo>
                  <a:pt x="4975537" y="0"/>
                </a:lnTo>
                <a:lnTo>
                  <a:pt x="4975537" y="2860933"/>
                </a:lnTo>
                <a:lnTo>
                  <a:pt x="0" y="2860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176210" y="4760774"/>
            <a:ext cx="5016681" cy="2903404"/>
          </a:xfrm>
          <a:custGeom>
            <a:avLst/>
            <a:gdLst/>
            <a:ahLst/>
            <a:cxnLst/>
            <a:rect l="l" t="t" r="r" b="b"/>
            <a:pathLst>
              <a:path w="5016681" h="2903404">
                <a:moveTo>
                  <a:pt x="0" y="0"/>
                </a:moveTo>
                <a:lnTo>
                  <a:pt x="5016682" y="0"/>
                </a:lnTo>
                <a:lnTo>
                  <a:pt x="5016682" y="2903404"/>
                </a:lnTo>
                <a:lnTo>
                  <a:pt x="0" y="29034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622031" y="3543300"/>
            <a:ext cx="6005149" cy="4323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26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KPIs: Avg Age 49, Avg BMI 25.8, Avg Chol 236</a:t>
            </a:r>
          </a:p>
          <a:p>
            <a:pPr algn="just">
              <a:lnSpc>
                <a:spcPts val="5731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731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Tool: AI Influencer visual ranking BP and Glucose as top factors.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4E73D6-4937-E037-7D96-06C4167BF4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0" y="-12697"/>
            <a:ext cx="16961925" cy="17259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4658" y="423158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Video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pic>
        <p:nvPicPr>
          <p:cNvPr id="10" name="Picture 1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028700" y="1856885"/>
            <a:ext cx="15366427" cy="81634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90023D-58AA-B7A2-8E24-E70F14639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0" y="-12697"/>
            <a:ext cx="16961925" cy="1869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30564" y="423158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14400" y="3467100"/>
            <a:ext cx="15267694" cy="420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30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IoT/Wearable heart rate monitors for real-time tracking.</a:t>
            </a:r>
          </a:p>
          <a:p>
            <a:pPr algn="just">
              <a:lnSpc>
                <a:spcPts val="6736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6730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Applying deep learning for more granular predictive accuracy.</a:t>
            </a:r>
          </a:p>
          <a:p>
            <a:pPr algn="just">
              <a:lnSpc>
                <a:spcPts val="6736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6736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Expanding datasets to include dietary and genetic markers.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85ED30-1ADF-B405-A17F-3EDC4B04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30564" y="423158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Individual Contribution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126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14400" y="3162300"/>
            <a:ext cx="16989581" cy="566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88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Gokulnaath M: Data Engineering &amp; PCA Implementation</a:t>
            </a:r>
          </a:p>
          <a:p>
            <a:pPr algn="just">
              <a:lnSpc>
                <a:spcPts val="6388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6388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Jayaraksha Reguraj: Narrative Design &amp; Visual Storytelling</a:t>
            </a:r>
          </a:p>
          <a:p>
            <a:pPr algn="just">
              <a:lnSpc>
                <a:spcPts val="6394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6388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Kamalesh N: Data Analysis &amp; Statistical Modeling</a:t>
            </a:r>
          </a:p>
          <a:p>
            <a:pPr algn="just">
              <a:lnSpc>
                <a:spcPts val="6394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6394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Nishanth P: Dashboard Design &amp;  Research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04718F-25EC-B7D3-599D-2DED02131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30564" y="423158"/>
            <a:ext cx="11499171" cy="100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4"/>
              </a:lnSpc>
            </a:pPr>
            <a:r>
              <a:rPr lang="en-US" sz="6609" b="1">
                <a:solidFill>
                  <a:srgbClr val="3038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and References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56103" y="-50797"/>
            <a:ext cx="1244603" cy="10312403"/>
            <a:chOff x="0" y="0"/>
            <a:chExt cx="1659471" cy="1374987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625600" cy="13715999"/>
            </a:xfrm>
            <a:custGeom>
              <a:avLst/>
              <a:gdLst/>
              <a:ahLst/>
              <a:cxnLst/>
              <a:rect l="l" t="t" r="r" b="b"/>
              <a:pathLst>
                <a:path w="1625600" h="13715999">
                  <a:moveTo>
                    <a:pt x="0" y="0"/>
                  </a:moveTo>
                  <a:lnTo>
                    <a:pt x="1625600" y="0"/>
                  </a:lnTo>
                  <a:lnTo>
                    <a:pt x="1625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7375E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659382" cy="13749782"/>
            </a:xfrm>
            <a:custGeom>
              <a:avLst/>
              <a:gdLst/>
              <a:ahLst/>
              <a:cxnLst/>
              <a:rect l="l" t="t" r="r" b="b"/>
              <a:pathLst>
                <a:path w="1659382" h="13749782">
                  <a:moveTo>
                    <a:pt x="16891" y="0"/>
                  </a:moveTo>
                  <a:lnTo>
                    <a:pt x="1642491" y="0"/>
                  </a:lnTo>
                  <a:cubicBezTo>
                    <a:pt x="1651889" y="0"/>
                    <a:pt x="1659382" y="7620"/>
                    <a:pt x="1659382" y="16891"/>
                  </a:cubicBezTo>
                  <a:lnTo>
                    <a:pt x="1659382" y="13732890"/>
                  </a:lnTo>
                  <a:cubicBezTo>
                    <a:pt x="1659382" y="13742290"/>
                    <a:pt x="1651762" y="13749782"/>
                    <a:pt x="1642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642491" y="13716000"/>
                  </a:lnTo>
                  <a:lnTo>
                    <a:pt x="1642491" y="13732890"/>
                  </a:lnTo>
                  <a:lnTo>
                    <a:pt x="1625600" y="13732890"/>
                  </a:lnTo>
                  <a:lnTo>
                    <a:pt x="1625600" y="16891"/>
                  </a:lnTo>
                  <a:lnTo>
                    <a:pt x="1642491" y="16891"/>
                  </a:lnTo>
                  <a:lnTo>
                    <a:pt x="1642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34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797776" y="3004513"/>
            <a:ext cx="14813595" cy="515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44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Summary: Identified that a multi-factorial profile (Male, 60+, Hypertensive, Heavy Smoker) represents the most critical intervention cohort.</a:t>
            </a:r>
          </a:p>
          <a:p>
            <a:pPr algn="just">
              <a:lnSpc>
                <a:spcPts val="6750"/>
              </a:lnSpc>
              <a:spcBef>
                <a:spcPct val="0"/>
              </a:spcBef>
            </a:pPr>
            <a:endParaRPr lang="en-US" sz="4000" dirty="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6750"/>
              </a:lnSpc>
              <a:spcBef>
                <a:spcPct val="0"/>
              </a:spcBef>
            </a:pPr>
            <a:r>
              <a:rPr lang="en-US" sz="4000" dirty="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References: Framingham Heart Study Dataset; Simplilearn Power BI Course.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956CC9-1B96-705A-89D6-01F2929D9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0" y="-12697"/>
            <a:ext cx="16961925" cy="23677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878</Words>
  <Application>Microsoft Office PowerPoint</Application>
  <PresentationFormat>Custom</PresentationFormat>
  <Paragraphs>130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Poppins Bold Italics</vt:lpstr>
      <vt:lpstr>Times New Roman</vt:lpstr>
      <vt:lpstr>Calibri</vt:lpstr>
      <vt:lpstr>Nunito</vt:lpstr>
      <vt:lpstr>Times New Roman Bold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team-14_ppt</dc:title>
  <cp:lastModifiedBy>Nishanth P</cp:lastModifiedBy>
  <cp:revision>6</cp:revision>
  <dcterms:created xsi:type="dcterms:W3CDTF">2006-08-16T00:00:00Z</dcterms:created>
  <dcterms:modified xsi:type="dcterms:W3CDTF">2026-04-30T05:00:32Z</dcterms:modified>
  <dc:identifier>DAHG8W-ZjUU</dc:identifier>
</cp:coreProperties>
</file>